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3CC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9D3CC"/>
                </a:solidFill>
                <a:latin typeface="Consolas"/>
              </a:defRPr>
            </a:pPr>
            <a:r>
              <a:t>ALARM CLOCK</a:t>
            </a:r>
          </a:p>
          <a:p>
            <a:pPr algn="ctr">
              <a:defRPr sz="2500">
                <a:solidFill>
                  <a:srgbClr val="F0F6FC"/>
                </a:solidFill>
                <a:latin typeface="Aptos"/>
              </a:defRPr>
            </a:pPr>
            <a:r>
              <a:t>Time Management &amp; Alarm Scheduling</a:t>
            </a:r>
          </a:p>
          <a:p>
            <a:pPr algn="ctr">
              <a:defRPr sz="1900">
                <a:solidFill>
                  <a:srgbClr val="A5B7C7"/>
                </a:solidFill>
                <a:latin typeface="Aptos"/>
              </a:defRPr>
            </a:pPr>
            <a:r>
              <a:t>Operating Systems Project</a:t>
            </a:r>
          </a:p>
          <a:p>
            <a:pPr algn="ctr">
              <a:defRPr sz="1600">
                <a:solidFill>
                  <a:srgbClr val="49D3CC"/>
                </a:solidFill>
                <a:latin typeface="Consolas"/>
              </a:defRPr>
            </a:pPr>
            <a:r>
              <a:t>C • Signals • Processes • System Calls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4160520"/>
            <a:ext cx="6720840" cy="114300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17320" y="3429000"/>
            <a:ext cx="9326880" cy="2606040"/>
          </a:xfrm>
          <a:prstGeom prst="roundRect">
            <a:avLst/>
          </a:prstGeom>
          <a:solidFill>
            <a:srgbClr val="122231"/>
          </a:solidFill>
          <a:ln>
            <a:solidFill>
              <a:srgbClr val="395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01168" bIns="137160"/>
          <a:lstStyle/>
          <a:p>
            <a:pPr algn="ctr">
              <a:spcAft>
                <a:spcPts val="300"/>
              </a:spcAft>
              <a:defRPr sz="1600">
                <a:solidFill>
                  <a:srgbClr val="EBF2F8"/>
                </a:solidFill>
              </a:defRPr>
            </a:pPr>
            <a:r>
              <a:rPr b="1" sz="1600">
                <a:solidFill>
                  <a:srgbClr val="4CDCD6"/>
                </a:solidFill>
              </a:rPr>
              <a:t>Project Title: </a:t>
            </a:r>
            <a:r>
              <a:rPr sz="1600">
                <a:solidFill>
                  <a:srgbClr val="EBF2F8"/>
                </a:solidFill>
              </a:rPr>
              <a:t>Alarm Clock</a:t>
            </a:r>
          </a:p>
          <a:p>
            <a:pPr>
              <a:spcAft>
                <a:spcPts val="300"/>
              </a:spcAft>
              <a:defRPr sz="1600">
                <a:solidFill>
                  <a:srgbClr val="EBF2F8"/>
                </a:solidFill>
              </a:defRPr>
            </a:pPr>
            <a:r>
              <a:rPr b="1" sz="1600">
                <a:solidFill>
                  <a:srgbClr val="4CDCD6"/>
                </a:solidFill>
              </a:rPr>
              <a:t>Section: </a:t>
            </a:r>
            <a:r>
              <a:rPr sz="1600">
                <a:solidFill>
                  <a:srgbClr val="EBF2F8"/>
                </a:solidFill>
              </a:rPr>
              <a:t>6</a:t>
            </a:r>
          </a:p>
          <a:p>
            <a:pPr>
              <a:spcAft>
                <a:spcPts val="300"/>
              </a:spcAft>
              <a:defRPr sz="1600">
                <a:solidFill>
                  <a:srgbClr val="EBF2F8"/>
                </a:solidFill>
              </a:defRPr>
            </a:pPr>
            <a:r>
              <a:rPr b="1" sz="1600">
                <a:solidFill>
                  <a:srgbClr val="4CDCD6"/>
                </a:solidFill>
              </a:rPr>
              <a:t>Team Number: </a:t>
            </a:r>
            <a:r>
              <a:rPr sz="1600">
                <a:solidFill>
                  <a:srgbClr val="EBF2F8"/>
                </a:solidFill>
              </a:rPr>
              <a:t>16</a:t>
            </a:r>
          </a:p>
          <a:p>
            <a:pPr>
              <a:spcAft>
                <a:spcPts val="300"/>
              </a:spcAft>
              <a:defRPr sz="1600">
                <a:solidFill>
                  <a:srgbClr val="EBF2F8"/>
                </a:solidFill>
              </a:defRPr>
            </a:pPr>
            <a:r>
              <a:rPr b="1" sz="1600">
                <a:solidFill>
                  <a:srgbClr val="4CDCD6"/>
                </a:solidFill>
              </a:rPr>
              <a:t>Team Members:</a:t>
            </a:r>
            <a:r>
              <a:rPr sz="1600">
                <a:solidFill>
                  <a:srgbClr val="EBF2F8"/>
                </a:solidFill>
              </a:rPr>
              <a:t/>
            </a:r>
          </a:p>
          <a:p>
            <a:pPr>
              <a:spcAft>
                <a:spcPts val="300"/>
              </a:spcAft>
              <a:defRPr sz="1600">
                <a:solidFill>
                  <a:srgbClr val="EBF2F8"/>
                </a:solidFill>
              </a:defRPr>
            </a:pPr>
            <a:r>
              <a:rPr sz="1500">
                <a:solidFill>
                  <a:srgbClr val="EBF2F8"/>
                </a:solidFill>
              </a:rPr>
              <a:t>2520030537 – Monisha Raghini Chelle</a:t>
            </a:r>
          </a:p>
          <a:p>
            <a:pPr>
              <a:spcAft>
                <a:spcPts val="300"/>
              </a:spcAft>
              <a:defRPr sz="1600">
                <a:solidFill>
                  <a:srgbClr val="EBF2F8"/>
                </a:solidFill>
              </a:defRPr>
            </a:pPr>
            <a:r>
              <a:rPr sz="1500">
                <a:solidFill>
                  <a:srgbClr val="EBF2F8"/>
                </a:solidFill>
              </a:rPr>
              <a:t>2520030502 – Shaik Sabiya Tabassum</a:t>
            </a:r>
          </a:p>
          <a:p>
            <a:pPr>
              <a:spcAft>
                <a:spcPts val="300"/>
              </a:spcAft>
              <a:defRPr sz="1600">
                <a:solidFill>
                  <a:srgbClr val="EBF2F8"/>
                </a:solidFill>
              </a:defRPr>
            </a:pPr>
            <a:r>
              <a:rPr sz="1500">
                <a:solidFill>
                  <a:srgbClr val="EBF2F8"/>
                </a:solidFill>
              </a:rPr>
              <a:t>2520030453 – Kolipaka Siri Chandana</a:t>
            </a:r>
          </a:p>
          <a:p>
            <a:pPr>
              <a:spcAft>
                <a:spcPts val="300"/>
              </a:spcAft>
              <a:defRPr sz="1600">
                <a:solidFill>
                  <a:srgbClr val="EBF2F8"/>
                </a:solidFill>
              </a:defRPr>
            </a:pPr>
            <a:r>
              <a:rPr b="1" sz="1600">
                <a:solidFill>
                  <a:srgbClr val="4CDCD6"/>
                </a:solidFill>
              </a:rPr>
              <a:t>Project Guide: </a:t>
            </a:r>
            <a:r>
              <a:rPr sz="1600">
                <a:solidFill>
                  <a:srgbClr val="EBF2F8"/>
                </a:solidFill>
              </a:rPr>
              <a:t>Dr. K. Anusha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3CC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6FC"/>
                </a:solidFill>
                <a:latin typeface="Consolas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D3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5B7C7"/>
                </a:solidFill>
                <a:latin typeface="Consolas"/>
              </a:defRPr>
            </a:pPr>
            <a:r>
              <a:t>ALARM CLOCK  •  OPERATING SYSTEMS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10972800" cy="489204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The Alarm Clock is a menu-driven C application for managing a scheduled alarm.</a:t>
            </a:r>
          </a:p>
          <a:p>
            <a:pPr>
              <a:spcAft>
                <a:spcPts val="9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It supports setting an alarm using hour, minute, second, and a user-defined label.</a:t>
            </a:r>
          </a:p>
          <a:p>
            <a:pPr>
              <a:spcAft>
                <a:spcPts val="9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The application allows the stored alarm to be viewed and cancelled.</a:t>
            </a:r>
          </a:p>
          <a:p>
            <a:pPr>
              <a:spcAft>
                <a:spcPts val="9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The project demonstrates operating-system concepts including SIGALRM, process creation, process identification, kill(), SIGTERM, and process termination.</a:t>
            </a:r>
          </a:p>
          <a:p>
            <a:pPr>
              <a:spcAft>
                <a:spcPts val="9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The terminal output also reports OS and kernel information and demonstrates resource cleanup during exit.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3CC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6FC"/>
                </a:solidFill>
                <a:latin typeface="Consolas"/>
              </a:defRPr>
            </a:pPr>
            <a:r>
              <a:t>INTRODUCTION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D3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5B7C7"/>
                </a:solidFill>
                <a:latin typeface="Consolas"/>
              </a:defRPr>
            </a:pPr>
            <a:r>
              <a:t>ALARM CLOCK  •  OPERATING SYSTEMS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349240" cy="498348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143000"/>
            <a:ext cx="5394960" cy="498348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49D3CC"/>
                </a:solidFill>
                <a:latin typeface="Consolas"/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A practical OS project implemented in C.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Uses a terminal-based interface for time management.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Connects user interaction with alarm and process mechanisms.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49D3CC"/>
                </a:solidFill>
                <a:latin typeface="Consolas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Set and store an alarm.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View the active alarm and current time.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Trigger the alarm at the scheduled time.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Cancel an active alarm.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Demonstrate signals and process control.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Exit with resource cleanup.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3CC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6FC"/>
                </a:solidFill>
                <a:latin typeface="Consolas"/>
              </a:defRPr>
            </a:pPr>
            <a:r>
              <a:t>IMPLEMENTATION /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D3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5B7C7"/>
                </a:solidFill>
                <a:latin typeface="Consolas"/>
              </a:defRPr>
            </a:pPr>
            <a:r>
              <a:t>ALARM CLOCK  •  OPERATING SYSTEMS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10972800" cy="498348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1508760" cy="777240"/>
          </a:xfrm>
          <a:prstGeom prst="roundRect">
            <a:avLst/>
          </a:prstGeom>
          <a:solidFill>
            <a:srgbClr val="172D3F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  <a:latin typeface="Consolas"/>
              </a:defRPr>
            </a:pPr>
            <a:r>
              <a:t>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74519"/>
            <a:ext cx="1737360" cy="777240"/>
          </a:xfrm>
          <a:prstGeom prst="roundRect">
            <a:avLst/>
          </a:prstGeom>
          <a:solidFill>
            <a:srgbClr val="172D3F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057400"/>
            <a:ext cx="16459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  <a:latin typeface="Consolas"/>
              </a:defRPr>
            </a:pPr>
            <a:r>
              <a:t>MAIN MENU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74519"/>
            <a:ext cx="1874519" cy="777240"/>
          </a:xfrm>
          <a:prstGeom prst="roundRect">
            <a:avLst/>
          </a:prstGeom>
          <a:solidFill>
            <a:srgbClr val="172D3F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057400"/>
            <a:ext cx="1783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  <a:latin typeface="Consolas"/>
              </a:defRPr>
            </a:pPr>
            <a:r>
              <a:t>ALARM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874519"/>
            <a:ext cx="1874519" cy="777240"/>
          </a:xfrm>
          <a:prstGeom prst="roundRect">
            <a:avLst/>
          </a:prstGeom>
          <a:solidFill>
            <a:srgbClr val="172D3F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2057400"/>
            <a:ext cx="1783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  <a:latin typeface="Consolas"/>
              </a:defRPr>
            </a:pPr>
            <a:r>
              <a:t>OS /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874519"/>
            <a:ext cx="1508760" cy="777240"/>
          </a:xfrm>
          <a:prstGeom prst="roundRect">
            <a:avLst/>
          </a:prstGeom>
          <a:solidFill>
            <a:srgbClr val="172D3F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057400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  <a:latin typeface="Consolas"/>
              </a:defRPr>
            </a:pPr>
            <a:r>
              <a:t>PROCESS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202996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7D689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02996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7D689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02996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7D689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029968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7D689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5468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main.c controls the menu and application flow.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alarm.c / alarm.h handle alarm initialization, waiting, cancellation, and trigger logic.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co1.c reports OS/process/system-call information.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co3.c schedules SIGALRM and maintains background alarm waiting.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co2.c demonstrates child-process creation and termination.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Other project modules are present in the source tree.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3CC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6FC"/>
                </a:solidFill>
                <a:latin typeface="Consolas"/>
              </a:defRPr>
            </a:pPr>
            <a:r>
              <a:t>KEY FEATURES — SET &amp;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D3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5B7C7"/>
                </a:solidFill>
                <a:latin typeface="Consolas"/>
              </a:defRPr>
            </a:pPr>
            <a:r>
              <a:t>ALARM CLOCK  •  OPERATING SYSTEMS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486400" cy="502920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271016"/>
            <a:ext cx="100584" cy="100584"/>
          </a:xfrm>
          <a:prstGeom prst="ellipse">
            <a:avLst/>
          </a:prstGeom>
          <a:solidFill>
            <a:srgbClr val="EB6058"/>
          </a:solidFill>
          <a:ln>
            <a:solidFill>
              <a:srgbClr val="EB6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271016"/>
            <a:ext cx="100584" cy="100584"/>
          </a:xfrm>
          <a:prstGeom prst="ellipse">
            <a:avLst/>
          </a:prstGeom>
          <a:solidFill>
            <a:srgbClr val="F0C65A"/>
          </a:solidFill>
          <a:ln>
            <a:solidFill>
              <a:srgbClr val="F0C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1271016"/>
            <a:ext cx="100584" cy="100584"/>
          </a:xfrm>
          <a:prstGeom prst="ellipse">
            <a:avLst/>
          </a:prstGeom>
          <a:solidFill>
            <a:srgbClr val="57D689"/>
          </a:solidFill>
          <a:ln>
            <a:solidFill>
              <a:srgbClr val="57D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143000"/>
            <a:ext cx="5257800" cy="502920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271016"/>
            <a:ext cx="100584" cy="100584"/>
          </a:xfrm>
          <a:prstGeom prst="ellipse">
            <a:avLst/>
          </a:prstGeom>
          <a:solidFill>
            <a:srgbClr val="EB6058"/>
          </a:solidFill>
          <a:ln>
            <a:solidFill>
              <a:srgbClr val="EB6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47688" y="1271016"/>
            <a:ext cx="100584" cy="100584"/>
          </a:xfrm>
          <a:prstGeom prst="ellipse">
            <a:avLst/>
          </a:prstGeom>
          <a:solidFill>
            <a:srgbClr val="F0C65A"/>
          </a:solidFill>
          <a:ln>
            <a:solidFill>
              <a:srgbClr val="F0C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48856" y="1271016"/>
            <a:ext cx="100584" cy="100584"/>
          </a:xfrm>
          <a:prstGeom prst="ellipse">
            <a:avLst/>
          </a:prstGeom>
          <a:solidFill>
            <a:srgbClr val="57D689"/>
          </a:solidFill>
          <a:ln>
            <a:solidFill>
              <a:srgbClr val="57D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9D3CC"/>
                </a:solidFill>
                <a:latin typeface="Consolas"/>
              </a:defRPr>
            </a:pPr>
            <a:r>
              <a:t>SET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94360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9D3CC"/>
                </a:solidFill>
                <a:latin typeface="Consolas"/>
              </a:defRPr>
            </a:pPr>
            <a:r>
              <a:t>VIEW STORED TIME</a:t>
            </a:r>
          </a:p>
        </p:txBody>
      </p:sp>
      <p:pic>
        <p:nvPicPr>
          <p:cNvPr id="18" name="Picture 17" descr="set_time_su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1554480"/>
            <a:ext cx="5257800" cy="4206240"/>
          </a:xfrm>
          <a:prstGeom prst="rect">
            <a:avLst/>
          </a:prstGeom>
        </p:spPr>
      </p:pic>
      <p:pic>
        <p:nvPicPr>
          <p:cNvPr id="19" name="Picture 18" descr="view_time_after_s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54480"/>
            <a:ext cx="4983480" cy="4206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589788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9D3CC"/>
                </a:solidFill>
                <a:latin typeface="Consolas"/>
              </a:defRPr>
            </a:pPr>
            <a:r>
              <a:t>ACTUAL TERMINAL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3CC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6FC"/>
                </a:solidFill>
                <a:latin typeface="Consolas"/>
              </a:defRPr>
            </a:pPr>
            <a:r>
              <a:t>OPERATING SYSTEM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D3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5B7C7"/>
                </a:solidFill>
                <a:latin typeface="Consolas"/>
              </a:defRPr>
            </a:pPr>
            <a:r>
              <a:t>ALARM CLOCK  •  OPERATING SYSTEMS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349240" cy="502920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271016"/>
            <a:ext cx="100584" cy="100584"/>
          </a:xfrm>
          <a:prstGeom prst="ellipse">
            <a:avLst/>
          </a:prstGeom>
          <a:solidFill>
            <a:srgbClr val="EB6058"/>
          </a:solidFill>
          <a:ln>
            <a:solidFill>
              <a:srgbClr val="EB6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271016"/>
            <a:ext cx="100584" cy="100584"/>
          </a:xfrm>
          <a:prstGeom prst="ellipse">
            <a:avLst/>
          </a:prstGeom>
          <a:solidFill>
            <a:srgbClr val="F0C65A"/>
          </a:solidFill>
          <a:ln>
            <a:solidFill>
              <a:srgbClr val="F0C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1271016"/>
            <a:ext cx="100584" cy="100584"/>
          </a:xfrm>
          <a:prstGeom prst="ellipse">
            <a:avLst/>
          </a:prstGeom>
          <a:solidFill>
            <a:srgbClr val="57D689"/>
          </a:solidFill>
          <a:ln>
            <a:solidFill>
              <a:srgbClr val="57D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SIGALRM — asynchronous alarm notification.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Process creation — alarm child process is created.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PID / PPID — process identification is displayed.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kill() — parent sends SIGTERM to the child.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Signal 15 — child termination is observed.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write() — system-call usage is reported.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Linux / kernel information is displayed during execution.</a:t>
            </a:r>
          </a:p>
        </p:txBody>
      </p:sp>
      <p:pic>
        <p:nvPicPr>
          <p:cNvPr id="12" name="Picture 11" descr="co3_signal_behav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08760"/>
            <a:ext cx="5166360" cy="434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89788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9D3CC"/>
                </a:solidFill>
                <a:latin typeface="Consolas"/>
              </a:defRPr>
            </a:pPr>
            <a:r>
              <a:t>ACTUAL SIGNAL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3CC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6FC"/>
                </a:solidFill>
                <a:latin typeface="Consolas"/>
              </a:defRPr>
            </a:pPr>
            <a:r>
              <a:t>RESULTS / LIVE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D3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5B7C7"/>
                </a:solidFill>
                <a:latin typeface="Consolas"/>
              </a:defRPr>
            </a:pPr>
            <a:r>
              <a:t>ALARM CLOCK  •  OPERATING SYSTEMS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6400800" cy="521208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179576"/>
            <a:ext cx="100584" cy="100584"/>
          </a:xfrm>
          <a:prstGeom prst="ellipse">
            <a:avLst/>
          </a:prstGeom>
          <a:solidFill>
            <a:srgbClr val="EB6058"/>
          </a:solidFill>
          <a:ln>
            <a:solidFill>
              <a:srgbClr val="EB6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1179576"/>
            <a:ext cx="100584" cy="100584"/>
          </a:xfrm>
          <a:prstGeom prst="ellipse">
            <a:avLst/>
          </a:prstGeom>
          <a:solidFill>
            <a:srgbClr val="F0C65A"/>
          </a:solidFill>
          <a:ln>
            <a:solidFill>
              <a:srgbClr val="F0C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2416" y="1179576"/>
            <a:ext cx="100584" cy="100584"/>
          </a:xfrm>
          <a:prstGeom prst="ellipse">
            <a:avLst/>
          </a:prstGeom>
          <a:solidFill>
            <a:srgbClr val="57D689"/>
          </a:solidFill>
          <a:ln>
            <a:solidFill>
              <a:srgbClr val="57D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0" y="1051560"/>
            <a:ext cx="4434840" cy="521208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554480"/>
            <a:ext cx="3794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✓ SIGALRM received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✓ TIME REACHED displayed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✓ Child process created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✓ Parent sends SIGTERM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✓ Child terminates by signal 15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✓ Process control completed</a:t>
            </a:r>
          </a:p>
        </p:txBody>
      </p:sp>
      <p:pic>
        <p:nvPicPr>
          <p:cNvPr id="13" name="Picture 12" descr="alarm_triggered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371600"/>
            <a:ext cx="6217920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589788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9D3CC"/>
                </a:solidFill>
                <a:latin typeface="Consolas"/>
              </a:defRPr>
            </a:pPr>
            <a:r>
              <a:t>ACTUAL ALARM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3CC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6FC"/>
                </a:solidFill>
                <a:latin typeface="Consolas"/>
              </a:defRPr>
            </a:pPr>
            <a:r>
              <a:t>TESTING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D3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5B7C7"/>
                </a:solidFill>
                <a:latin typeface="Consolas"/>
              </a:defRPr>
            </a:pPr>
            <a:r>
              <a:t>ALARM CLOCK  •  OPERATING SYSTEMS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6400800" cy="516636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Test 1 — Start application and verify menu.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Test 2 — Set WakeUp alarm with valid time.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Test 3 — View stored time and active status.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Test 4 — Observe SIGALRM scheduling/background waiting.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Test 5 — Wait for TIME REACHED and verify process output.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Test 6 — Cancel the alarm and verify success.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Test 7 — Exit and verify resource cleanup.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097280"/>
            <a:ext cx="4343400" cy="516636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60920" y="1225295"/>
            <a:ext cx="100584" cy="100584"/>
          </a:xfrm>
          <a:prstGeom prst="ellipse">
            <a:avLst/>
          </a:prstGeom>
          <a:solidFill>
            <a:srgbClr val="EB6058"/>
          </a:solidFill>
          <a:ln>
            <a:solidFill>
              <a:srgbClr val="EB6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62088" y="1225295"/>
            <a:ext cx="100584" cy="100584"/>
          </a:xfrm>
          <a:prstGeom prst="ellipse">
            <a:avLst/>
          </a:prstGeom>
          <a:solidFill>
            <a:srgbClr val="F0C65A"/>
          </a:solidFill>
          <a:ln>
            <a:solidFill>
              <a:srgbClr val="F0C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63256" y="1225295"/>
            <a:ext cx="100584" cy="100584"/>
          </a:xfrm>
          <a:prstGeom prst="ellipse">
            <a:avLst/>
          </a:prstGeom>
          <a:solidFill>
            <a:srgbClr val="57D689"/>
          </a:solidFill>
          <a:ln>
            <a:solidFill>
              <a:srgbClr val="57D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ncel_time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417320"/>
            <a:ext cx="4069080" cy="452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89788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9D3CC"/>
                </a:solidFill>
                <a:latin typeface="Consolas"/>
              </a:defRPr>
            </a:pPr>
            <a:r>
              <a:t>ACTUAL CANCEL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3CC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6FC"/>
                </a:solidFill>
                <a:latin typeface="Consolas"/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D3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5B7C7"/>
                </a:solidFill>
                <a:latin typeface="Consolas"/>
              </a:defRPr>
            </a:pPr>
            <a:r>
              <a:t>ALARM CLOCK  •  OPERATING SYSTEMS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486400" cy="498348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143000"/>
            <a:ext cx="5257800" cy="498348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57D689"/>
                </a:solidFill>
                <a:latin typeface="Consolas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The application successfully manages a scheduled alarm.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The project demonstrates practical OS concepts through a working C program.</a:t>
            </a:r>
          </a:p>
          <a:p>
            <a:pPr>
              <a:spcAft>
                <a:spcPts val="900"/>
              </a:spcAft>
              <a:defRPr sz="1700">
                <a:solidFill>
                  <a:srgbClr val="F0F6FC"/>
                </a:solidFill>
                <a:latin typeface="Aptos"/>
              </a:defRPr>
            </a:pPr>
            <a:r>
              <a:t>Setting, viewing, triggering, cancelling, and exiting were demonstrated.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46304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49D3CC"/>
                </a:solidFill>
                <a:latin typeface="Consolas"/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Support multiple saved alarms.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Add recurring/daily alarms.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Add sound/notification output.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Provide a graphical user interface.</a:t>
            </a:r>
          </a:p>
          <a:p>
            <a:pPr>
              <a:spcAft>
                <a:spcPts val="900"/>
              </a:spcAft>
              <a:defRPr sz="1600">
                <a:solidFill>
                  <a:srgbClr val="F0F6FC"/>
                </a:solidFill>
                <a:latin typeface="Aptos"/>
              </a:defRPr>
            </a:pPr>
            <a:r>
              <a:t>Add richer alarm history and scheduling options.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3CC"/>
          </a:solidFill>
          <a:ln>
            <a:solidFill>
              <a:srgbClr val="4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6FC"/>
                </a:solidFill>
                <a:latin typeface="Consola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57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9D3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5B7C7"/>
                </a:solidFill>
                <a:latin typeface="Consolas"/>
              </a:defRPr>
            </a:pPr>
            <a:r>
              <a:t>ALARM CLOCK  •  OPERATING SYSTEMS PROJECT</a:t>
            </a:r>
          </a:p>
          <a:p>
            <a:pPr algn="ctr">
              <a:defRPr sz="1400">
                <a:solidFill>
                  <a:srgbClr val="A5B7C7"/>
                </a:solidFill>
                <a:latin typeface="Consolas"/>
              </a:defRPr>
            </a:pPr>
            <a:r>
              <a:t>C • Signals • Processes • Operating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44200" cy="4526280"/>
          </a:xfrm>
          <a:prstGeom prst="roundRect">
            <a:avLst/>
          </a:prstGeom>
          <a:solidFill>
            <a:srgbClr val="121F2D"/>
          </a:solidFill>
          <a:ln>
            <a:solidFill>
              <a:srgbClr val="27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99669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49D3CC"/>
                </a:solidFill>
                <a:latin typeface="Consolas"/>
              </a:defRPr>
            </a:pPr>
            <a:r>
              <a:t>ALARM CLOCK</a:t>
            </a:r>
          </a:p>
          <a:p>
            <a:pPr algn="ctr">
              <a:defRPr sz="2200">
                <a:solidFill>
                  <a:srgbClr val="F0F6FC"/>
                </a:solidFill>
                <a:latin typeface="Aptos"/>
              </a:defRPr>
            </a:pPr>
            <a:r>
              <a:t>Time Management &amp; Alarm Scheduling</a:t>
            </a:r>
          </a:p>
          <a:p>
            <a:pPr algn="ctr">
              <a:defRPr sz="2000">
                <a:solidFill>
                  <a:srgbClr val="57D689"/>
                </a:solidFill>
                <a:latin typeface="Consolas"/>
              </a:defRPr>
            </a:pPr>
            <a:r>
              <a:t>Questions &amp; Discussion</a:t>
            </a:r>
          </a:p>
          <a:p>
            <a:pPr>
              <a:defRPr>
                <a:latin typeface="Consolas"/>
              </a:defRPr>
            </a:pPr>
            <a:r>
              <a:t>C • Signals • Processes • Operating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